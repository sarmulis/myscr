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Lst>
  <p:sldSz cx="12192000" cy="6858000"/>
  <p:notesSz cx="6858000" cy="9144000"/>
  <p:defaultText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3" d="100"/>
          <a:sy n="73" d="100"/>
        </p:scale>
        <p:origin x="5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lv-LV"/>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lv-LV"/>
          </a:p>
        </p:txBody>
      </p:sp>
      <p:sp>
        <p:nvSpPr>
          <p:cNvPr id="4" name="Date Placeholder 3"/>
          <p:cNvSpPr>
            <a:spLocks noGrp="1"/>
          </p:cNvSpPr>
          <p:nvPr>
            <p:ph type="dt" sz="half" idx="10"/>
          </p:nvPr>
        </p:nvSpPr>
        <p:spPr/>
        <p:txBody>
          <a:bodyPr/>
          <a:lstStyle/>
          <a:p>
            <a:fld id="{78B68FD3-86A9-4CC7-AA64-610CC6C77F54}" type="datetimeFigureOut">
              <a:rPr lang="lv-LV" smtClean="0"/>
              <a:t>05.12.2020</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10372035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lv-LV"/>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Date Placeholder 3"/>
          <p:cNvSpPr>
            <a:spLocks noGrp="1"/>
          </p:cNvSpPr>
          <p:nvPr>
            <p:ph type="dt" sz="half" idx="10"/>
          </p:nvPr>
        </p:nvSpPr>
        <p:spPr/>
        <p:txBody>
          <a:bodyPr/>
          <a:lstStyle/>
          <a:p>
            <a:fld id="{78B68FD3-86A9-4CC7-AA64-610CC6C77F54}" type="datetimeFigureOut">
              <a:rPr lang="lv-LV" smtClean="0"/>
              <a:t>05.12.2020</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3051793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lv-LV"/>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8B68FD3-86A9-4CC7-AA64-610CC6C77F54}" type="datetimeFigureOut">
              <a:rPr lang="lv-LV" smtClean="0"/>
              <a:t>05.12.2020</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143382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lv-LV"/>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5" name="Date Placeholder 4"/>
          <p:cNvSpPr>
            <a:spLocks noGrp="1"/>
          </p:cNvSpPr>
          <p:nvPr>
            <p:ph type="dt" sz="half" idx="10"/>
          </p:nvPr>
        </p:nvSpPr>
        <p:spPr/>
        <p:txBody>
          <a:bodyPr/>
          <a:lstStyle/>
          <a:p>
            <a:fld id="{78B68FD3-86A9-4CC7-AA64-610CC6C77F54}" type="datetimeFigureOut">
              <a:rPr lang="lv-LV" smtClean="0"/>
              <a:t>05.12.2020</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3398536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lv-LV"/>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7" name="Date Placeholder 6"/>
          <p:cNvSpPr>
            <a:spLocks noGrp="1"/>
          </p:cNvSpPr>
          <p:nvPr>
            <p:ph type="dt" sz="half" idx="10"/>
          </p:nvPr>
        </p:nvSpPr>
        <p:spPr/>
        <p:txBody>
          <a:bodyPr/>
          <a:lstStyle/>
          <a:p>
            <a:fld id="{78B68FD3-86A9-4CC7-AA64-610CC6C77F54}" type="datetimeFigureOut">
              <a:rPr lang="lv-LV" smtClean="0"/>
              <a:t>05.12.2020</a:t>
            </a:fld>
            <a:endParaRPr lang="lv-LV"/>
          </a:p>
        </p:txBody>
      </p:sp>
      <p:sp>
        <p:nvSpPr>
          <p:cNvPr id="8" name="Footer Placeholder 7"/>
          <p:cNvSpPr>
            <a:spLocks noGrp="1"/>
          </p:cNvSpPr>
          <p:nvPr>
            <p:ph type="ftr" sz="quarter" idx="11"/>
          </p:nvPr>
        </p:nvSpPr>
        <p:spPr/>
        <p:txBody>
          <a:bodyPr/>
          <a:lstStyle/>
          <a:p>
            <a:endParaRPr lang="lv-LV"/>
          </a:p>
        </p:txBody>
      </p:sp>
      <p:sp>
        <p:nvSpPr>
          <p:cNvPr id="9" name="Slide Number Placeholder 8"/>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3008507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lv-LV"/>
          </a:p>
        </p:txBody>
      </p:sp>
      <p:sp>
        <p:nvSpPr>
          <p:cNvPr id="3" name="Date Placeholder 2"/>
          <p:cNvSpPr>
            <a:spLocks noGrp="1"/>
          </p:cNvSpPr>
          <p:nvPr>
            <p:ph type="dt" sz="half" idx="10"/>
          </p:nvPr>
        </p:nvSpPr>
        <p:spPr/>
        <p:txBody>
          <a:bodyPr/>
          <a:lstStyle/>
          <a:p>
            <a:fld id="{78B68FD3-86A9-4CC7-AA64-610CC6C77F54}" type="datetimeFigureOut">
              <a:rPr lang="lv-LV" smtClean="0"/>
              <a:t>05.12.2020</a:t>
            </a:fld>
            <a:endParaRPr lang="lv-LV"/>
          </a:p>
        </p:txBody>
      </p:sp>
      <p:sp>
        <p:nvSpPr>
          <p:cNvPr id="4" name="Footer Placeholder 3"/>
          <p:cNvSpPr>
            <a:spLocks noGrp="1"/>
          </p:cNvSpPr>
          <p:nvPr>
            <p:ph type="ftr" sz="quarter" idx="11"/>
          </p:nvPr>
        </p:nvSpPr>
        <p:spPr/>
        <p:txBody>
          <a:bodyPr/>
          <a:lstStyle/>
          <a:p>
            <a:endParaRPr lang="lv-LV"/>
          </a:p>
        </p:txBody>
      </p:sp>
      <p:sp>
        <p:nvSpPr>
          <p:cNvPr id="5" name="Slide Number Placeholder 4"/>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27242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B68FD3-86A9-4CC7-AA64-610CC6C77F54}" type="datetimeFigureOut">
              <a:rPr lang="lv-LV" smtClean="0"/>
              <a:t>05.12.2020</a:t>
            </a:fld>
            <a:endParaRPr lang="lv-LV"/>
          </a:p>
        </p:txBody>
      </p:sp>
      <p:sp>
        <p:nvSpPr>
          <p:cNvPr id="3" name="Footer Placeholder 2"/>
          <p:cNvSpPr>
            <a:spLocks noGrp="1"/>
          </p:cNvSpPr>
          <p:nvPr>
            <p:ph type="ftr" sz="quarter" idx="11"/>
          </p:nvPr>
        </p:nvSpPr>
        <p:spPr/>
        <p:txBody>
          <a:bodyPr/>
          <a:lstStyle/>
          <a:p>
            <a:endParaRPr lang="lv-LV"/>
          </a:p>
        </p:txBody>
      </p:sp>
      <p:sp>
        <p:nvSpPr>
          <p:cNvPr id="4" name="Slide Number Placeholder 3"/>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3443223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lv-LV"/>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B68FD3-86A9-4CC7-AA64-610CC6C77F54}" type="datetimeFigureOut">
              <a:rPr lang="lv-LV" smtClean="0"/>
              <a:t>05.12.2020</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3841529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lv-LV"/>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v-LV"/>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B68FD3-86A9-4CC7-AA64-610CC6C77F54}" type="datetimeFigureOut">
              <a:rPr lang="lv-LV" smtClean="0"/>
              <a:t>05.12.2020</a:t>
            </a:fld>
            <a:endParaRPr lang="lv-LV"/>
          </a:p>
        </p:txBody>
      </p:sp>
      <p:sp>
        <p:nvSpPr>
          <p:cNvPr id="6" name="Footer Placeholder 5"/>
          <p:cNvSpPr>
            <a:spLocks noGrp="1"/>
          </p:cNvSpPr>
          <p:nvPr>
            <p:ph type="ftr" sz="quarter" idx="11"/>
          </p:nvPr>
        </p:nvSpPr>
        <p:spPr/>
        <p:txBody>
          <a:bodyPr/>
          <a:lstStyle/>
          <a:p>
            <a:endParaRPr lang="lv-LV"/>
          </a:p>
        </p:txBody>
      </p:sp>
      <p:sp>
        <p:nvSpPr>
          <p:cNvPr id="7" name="Slide Number Placeholder 6"/>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624991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lv-LV"/>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Date Placeholder 3"/>
          <p:cNvSpPr>
            <a:spLocks noGrp="1"/>
          </p:cNvSpPr>
          <p:nvPr>
            <p:ph type="dt" sz="half" idx="10"/>
          </p:nvPr>
        </p:nvSpPr>
        <p:spPr/>
        <p:txBody>
          <a:bodyPr/>
          <a:lstStyle/>
          <a:p>
            <a:fld id="{78B68FD3-86A9-4CC7-AA64-610CC6C77F54}" type="datetimeFigureOut">
              <a:rPr lang="lv-LV" smtClean="0"/>
              <a:t>05.12.2020</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2897941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lv-LV"/>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Date Placeholder 3"/>
          <p:cNvSpPr>
            <a:spLocks noGrp="1"/>
          </p:cNvSpPr>
          <p:nvPr>
            <p:ph type="dt" sz="half" idx="10"/>
          </p:nvPr>
        </p:nvSpPr>
        <p:spPr/>
        <p:txBody>
          <a:bodyPr/>
          <a:lstStyle/>
          <a:p>
            <a:fld id="{78B68FD3-86A9-4CC7-AA64-610CC6C77F54}" type="datetimeFigureOut">
              <a:rPr lang="lv-LV" smtClean="0"/>
              <a:t>05.12.2020</a:t>
            </a:fld>
            <a:endParaRPr lang="lv-LV"/>
          </a:p>
        </p:txBody>
      </p:sp>
      <p:sp>
        <p:nvSpPr>
          <p:cNvPr id="5" name="Footer Placeholder 4"/>
          <p:cNvSpPr>
            <a:spLocks noGrp="1"/>
          </p:cNvSpPr>
          <p:nvPr>
            <p:ph type="ftr" sz="quarter" idx="11"/>
          </p:nvPr>
        </p:nvSpPr>
        <p:spPr/>
        <p:txBody>
          <a:bodyPr/>
          <a:lstStyle/>
          <a:p>
            <a:endParaRPr lang="lv-LV"/>
          </a:p>
        </p:txBody>
      </p:sp>
      <p:sp>
        <p:nvSpPr>
          <p:cNvPr id="6" name="Slide Number Placeholder 5"/>
          <p:cNvSpPr>
            <a:spLocks noGrp="1"/>
          </p:cNvSpPr>
          <p:nvPr>
            <p:ph type="sldNum" sz="quarter" idx="12"/>
          </p:nvPr>
        </p:nvSpPr>
        <p:spPr/>
        <p:txBody>
          <a:bodyPr/>
          <a:lstStyle/>
          <a:p>
            <a:fld id="{DA12340A-1A6B-432E-9A8D-5F6526705657}" type="slidenum">
              <a:rPr lang="lv-LV" smtClean="0"/>
              <a:t>‹#›</a:t>
            </a:fld>
            <a:endParaRPr lang="lv-LV"/>
          </a:p>
        </p:txBody>
      </p:sp>
    </p:spTree>
    <p:extLst>
      <p:ext uri="{BB962C8B-B14F-4D97-AF65-F5344CB8AC3E}">
        <p14:creationId xmlns:p14="http://schemas.microsoft.com/office/powerpoint/2010/main" val="2271818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lv-LV"/>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lv-LV"/>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B68FD3-86A9-4CC7-AA64-610CC6C77F54}" type="datetimeFigureOut">
              <a:rPr lang="lv-LV" smtClean="0"/>
              <a:t>05.12.2020</a:t>
            </a:fld>
            <a:endParaRPr lang="lv-LV"/>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v-LV"/>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12340A-1A6B-432E-9A8D-5F6526705657}" type="slidenum">
              <a:rPr lang="lv-LV" smtClean="0"/>
              <a:t>‹#›</a:t>
            </a:fld>
            <a:endParaRPr lang="lv-LV"/>
          </a:p>
        </p:txBody>
      </p:sp>
    </p:spTree>
    <p:extLst>
      <p:ext uri="{BB962C8B-B14F-4D97-AF65-F5344CB8AC3E}">
        <p14:creationId xmlns:p14="http://schemas.microsoft.com/office/powerpoint/2010/main" val="32052094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v-LV"/>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gif"/><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gif"/></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lv-LV" sz="8000" b="1" dirty="0" smtClean="0"/>
              <a:t>Mērinstrumenti</a:t>
            </a:r>
            <a:endParaRPr lang="lv-LV" sz="8000" b="1" dirty="0"/>
          </a:p>
        </p:txBody>
      </p:sp>
      <p:sp>
        <p:nvSpPr>
          <p:cNvPr id="4" name="TextBox 3"/>
          <p:cNvSpPr txBox="1"/>
          <p:nvPr/>
        </p:nvSpPr>
        <p:spPr>
          <a:xfrm>
            <a:off x="522514" y="6178732"/>
            <a:ext cx="9914709" cy="646331"/>
          </a:xfrm>
          <a:prstGeom prst="rect">
            <a:avLst/>
          </a:prstGeom>
          <a:noFill/>
        </p:spPr>
        <p:txBody>
          <a:bodyPr wrap="square" rtlCol="0">
            <a:spAutoFit/>
          </a:bodyPr>
          <a:lstStyle/>
          <a:p>
            <a:pPr algn="ctr"/>
            <a:r>
              <a:rPr lang="lv-LV" dirty="0" smtClean="0"/>
              <a:t>Sarmīte </a:t>
            </a:r>
            <a:r>
              <a:rPr lang="lv-LV" dirty="0" err="1" smtClean="0"/>
              <a:t>Endzele</a:t>
            </a:r>
            <a:r>
              <a:rPr lang="lv-LV" dirty="0" smtClean="0"/>
              <a:t> MT2,</a:t>
            </a:r>
          </a:p>
          <a:p>
            <a:pPr algn="ctr"/>
            <a:r>
              <a:rPr lang="lv-LV" dirty="0" smtClean="0"/>
              <a:t>Mājas darbs Nr.2, 2020.g.</a:t>
            </a:r>
            <a:endParaRPr lang="lv-LV" dirty="0"/>
          </a:p>
        </p:txBody>
      </p:sp>
    </p:spTree>
    <p:extLst>
      <p:ext uri="{BB962C8B-B14F-4D97-AF65-F5344CB8AC3E}">
        <p14:creationId xmlns:p14="http://schemas.microsoft.com/office/powerpoint/2010/main" val="199805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latin typeface="Arial Narrow" panose="020B0606020202030204" pitchFamily="34" charset="0"/>
              </a:rPr>
              <a:t>Bīdmērs/</a:t>
            </a:r>
            <a:r>
              <a:rPr lang="az-Cyrl-AZ" sz="3600" b="1" dirty="0" smtClean="0">
                <a:latin typeface="Arial Narrow" panose="020B0606020202030204" pitchFamily="34" charset="0"/>
              </a:rPr>
              <a:t>Штангенциркуль</a:t>
            </a:r>
            <a:r>
              <a:rPr lang="lv-LV" sz="3600" b="1" dirty="0" smtClean="0">
                <a:latin typeface="Arial Narrow" panose="020B0606020202030204" pitchFamily="34" charset="0"/>
              </a:rPr>
              <a:t>/</a:t>
            </a:r>
            <a:r>
              <a:rPr lang="lv-LV" sz="3600" b="1" dirty="0" err="1" smtClean="0">
                <a:latin typeface="Arial Narrow" panose="020B0606020202030204" pitchFamily="34" charset="0"/>
              </a:rPr>
              <a:t>calliper</a:t>
            </a:r>
            <a:endParaRPr lang="lv-LV" sz="3600" b="1" dirty="0">
              <a:latin typeface="Arial Narrow" panose="020B0606020202030204" pitchFamily="34" charset="0"/>
            </a:endParaRPr>
          </a:p>
        </p:txBody>
      </p:sp>
      <p:sp>
        <p:nvSpPr>
          <p:cNvPr id="3" name="Content Placeholder 2"/>
          <p:cNvSpPr>
            <a:spLocks noGrp="1"/>
          </p:cNvSpPr>
          <p:nvPr>
            <p:ph idx="1"/>
          </p:nvPr>
        </p:nvSpPr>
        <p:spPr/>
        <p:txBody>
          <a:bodyPr/>
          <a:lstStyle/>
          <a:p>
            <a:r>
              <a:rPr lang="lv-LV" dirty="0" smtClean="0"/>
              <a:t>Bīdmērs ir mērinstruments detaļu ārējo un iekšējo lineāro izmēru mērīšanai. </a:t>
            </a:r>
            <a:r>
              <a:rPr lang="lv-LV" dirty="0" smtClean="0"/>
              <a:t>Ar dziļuma bīdmēru, mēra detaļu urbumu dziļumu. Bīdmēru </a:t>
            </a:r>
            <a:r>
              <a:rPr lang="lv-LV" dirty="0" smtClean="0"/>
              <a:t>plaši lieto mašīnbūvē, metālapstrādē, aparātbūvē, kokapstrādē u.c.</a:t>
            </a:r>
          </a:p>
          <a:p>
            <a:r>
              <a:rPr lang="lv-LV" dirty="0" smtClean="0"/>
              <a:t>Skala līdz 150, 200, 300mm mazā skala līdz 40, 60mm</a:t>
            </a:r>
          </a:p>
          <a:p>
            <a:r>
              <a:rPr lang="lv-LV" dirty="0" smtClean="0"/>
              <a:t>Iedaļas vērtība mm un collas</a:t>
            </a:r>
          </a:p>
          <a:p>
            <a:r>
              <a:rPr lang="lv-LV" dirty="0" smtClean="0"/>
              <a:t>Sastāv no </a:t>
            </a:r>
            <a:r>
              <a:rPr lang="lv-LV" dirty="0" err="1" smtClean="0"/>
              <a:t>pamatskalas</a:t>
            </a:r>
            <a:r>
              <a:rPr lang="lv-LV" dirty="0" smtClean="0"/>
              <a:t> un rāmīša ar noniju. Atslēdznieku universālajam bīdmēram ir atsevišķi </a:t>
            </a:r>
            <a:r>
              <a:rPr lang="lv-LV" dirty="0" err="1" smtClean="0"/>
              <a:t>mērtaustu</a:t>
            </a:r>
            <a:r>
              <a:rPr lang="lv-LV" dirty="0" smtClean="0"/>
              <a:t> pāri ārējo izmēru un atsevišķi — iekšējo izmēru mērīšanai, kā arī </a:t>
            </a:r>
            <a:r>
              <a:rPr lang="lv-LV" dirty="0" err="1" smtClean="0"/>
              <a:t>bīdlineāls</a:t>
            </a:r>
            <a:r>
              <a:rPr lang="lv-LV" dirty="0" smtClean="0"/>
              <a:t> dziļuma mērīšanai. </a:t>
            </a:r>
          </a:p>
        </p:txBody>
      </p:sp>
    </p:spTree>
    <p:extLst>
      <p:ext uri="{BB962C8B-B14F-4D97-AF65-F5344CB8AC3E}">
        <p14:creationId xmlns:p14="http://schemas.microsoft.com/office/powerpoint/2010/main" val="31132051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b="1" dirty="0" smtClean="0"/>
              <a:t>Bīdmērs</a:t>
            </a:r>
            <a:endParaRPr lang="lv-LV"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813476" y="1399821"/>
            <a:ext cx="5197786" cy="2377987"/>
          </a:xfr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8973" y="2502164"/>
            <a:ext cx="3334192" cy="333419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8891" y="2720984"/>
            <a:ext cx="3981121" cy="3678183"/>
          </a:xfrm>
          <a:prstGeom prst="rect">
            <a:avLst/>
          </a:prstGeom>
        </p:spPr>
      </p:pic>
    </p:spTree>
    <p:extLst>
      <p:ext uri="{BB962C8B-B14F-4D97-AF65-F5344CB8AC3E}">
        <p14:creationId xmlns:p14="http://schemas.microsoft.com/office/powerpoint/2010/main" val="3009429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5937"/>
            <a:ext cx="10515600" cy="1325563"/>
          </a:xfrm>
        </p:spPr>
        <p:txBody>
          <a:bodyPr>
            <a:normAutofit/>
          </a:bodyPr>
          <a:lstStyle/>
          <a:p>
            <a:pPr algn="ctr"/>
            <a:r>
              <a:rPr lang="lv-LV" sz="3600" b="1" dirty="0" smtClean="0"/>
              <a:t>Mikrometrs/</a:t>
            </a:r>
            <a:r>
              <a:rPr lang="az-Cyrl-AZ" sz="3600" b="1" dirty="0" smtClean="0"/>
              <a:t>микрометр</a:t>
            </a:r>
            <a:r>
              <a:rPr lang="lv-LV" sz="3600" b="1" dirty="0" smtClean="0"/>
              <a:t>/</a:t>
            </a:r>
            <a:r>
              <a:rPr lang="lv-LV" sz="3600" b="1" dirty="0" err="1" smtClean="0"/>
              <a:t>micrometer</a:t>
            </a:r>
            <a:endParaRPr lang="lv-LV" sz="3600" b="1" dirty="0"/>
          </a:p>
        </p:txBody>
      </p:sp>
      <p:sp>
        <p:nvSpPr>
          <p:cNvPr id="3" name="Content Placeholder 2"/>
          <p:cNvSpPr>
            <a:spLocks noGrp="1"/>
          </p:cNvSpPr>
          <p:nvPr>
            <p:ph idx="1"/>
          </p:nvPr>
        </p:nvSpPr>
        <p:spPr/>
        <p:txBody>
          <a:bodyPr>
            <a:normAutofit fontScale="77500" lnSpcReduction="20000"/>
          </a:bodyPr>
          <a:lstStyle/>
          <a:p>
            <a:r>
              <a:rPr lang="lv-LV" b="1" dirty="0"/>
              <a:t>Mikrometrs</a:t>
            </a:r>
            <a:r>
              <a:rPr lang="lv-LV" dirty="0"/>
              <a:t> ir mērinstruments mazu lineāro izmēru mērīšanai (ar lielāku precizitāti nekā bīdmēram). Parasti mikrometra precizitāte ir 0,01 mm, bet var sasniegt arī 0,001 mm un vairāk. Mehāniskajos mikrometros izmanto gredzenveida nonija skalu; ir arī elektroniskie mikrometri ar ciparu indikāciju. Mikrometrus plaši izmanto </a:t>
            </a:r>
            <a:r>
              <a:rPr lang="lv-LV" dirty="0" smtClean="0"/>
              <a:t>mašīnbūvē</a:t>
            </a:r>
          </a:p>
          <a:p>
            <a:r>
              <a:rPr lang="lv-LV" dirty="0" smtClean="0"/>
              <a:t>Tipiskais </a:t>
            </a:r>
            <a:r>
              <a:rPr lang="lv-LV" dirty="0" err="1" smtClean="0"/>
              <a:t>mērapjoms</a:t>
            </a:r>
            <a:r>
              <a:rPr lang="lv-LV" dirty="0" smtClean="0"/>
              <a:t> ir 25mm</a:t>
            </a:r>
          </a:p>
          <a:p>
            <a:r>
              <a:rPr lang="lv-LV" dirty="0" smtClean="0"/>
              <a:t>Iedaļas vērtība mm</a:t>
            </a:r>
          </a:p>
          <a:p>
            <a:r>
              <a:rPr lang="lv-LV" dirty="0" smtClean="0"/>
              <a:t>Parastais, tā saucamais gludais mikrometrs sastāv no </a:t>
            </a:r>
            <a:r>
              <a:rPr lang="lv-LV" dirty="0" err="1" smtClean="0"/>
              <a:t>skavveida</a:t>
            </a:r>
            <a:r>
              <a:rPr lang="lv-LV" dirty="0" smtClean="0"/>
              <a:t> pamatnes, kurā stingri iepresēta nekustīgā </a:t>
            </a:r>
            <a:r>
              <a:rPr lang="lv-LV" dirty="0" err="1" smtClean="0"/>
              <a:t>mērvirsma</a:t>
            </a:r>
            <a:r>
              <a:rPr lang="lv-LV" dirty="0" smtClean="0"/>
              <a:t> un </a:t>
            </a:r>
            <a:r>
              <a:rPr lang="lv-LV" dirty="0" err="1" smtClean="0"/>
              <a:t>mikrometriskais</a:t>
            </a:r>
            <a:r>
              <a:rPr lang="lv-LV" dirty="0" smtClean="0"/>
              <a:t> uzgrieznis, pa kuru kustas </a:t>
            </a:r>
            <a:r>
              <a:rPr lang="lv-LV" dirty="0" err="1" smtClean="0"/>
              <a:t>mikrometriskā</a:t>
            </a:r>
            <a:r>
              <a:rPr lang="lv-LV" dirty="0" smtClean="0"/>
              <a:t> skrūve ar kustīgo </a:t>
            </a:r>
            <a:r>
              <a:rPr lang="lv-LV" dirty="0" err="1" smtClean="0"/>
              <a:t>mērvirsmu</a:t>
            </a:r>
            <a:r>
              <a:rPr lang="lv-LV" dirty="0" smtClean="0"/>
              <a:t>. </a:t>
            </a:r>
            <a:r>
              <a:rPr lang="lv-LV" dirty="0" err="1" smtClean="0"/>
              <a:t>Mērvirsmas</a:t>
            </a:r>
            <a:r>
              <a:rPr lang="lv-LV" dirty="0" smtClean="0"/>
              <a:t> ir gludi nopulētas un savstarpēji pilnīgi paralēlas. </a:t>
            </a:r>
            <a:r>
              <a:rPr lang="lv-LV" dirty="0" err="1" smtClean="0"/>
              <a:t>Mikrometriskajai</a:t>
            </a:r>
            <a:r>
              <a:rPr lang="lv-LV" dirty="0" smtClean="0"/>
              <a:t> skrūvei caur speciālu tarkšķa mehānismu pievienots rokturis, kuru griežot, pārvieto skrūvi kopā ar nonija skalu. Lai </a:t>
            </a:r>
            <a:r>
              <a:rPr lang="lv-LV" dirty="0" err="1" smtClean="0"/>
              <a:t>mēvirsmas</a:t>
            </a:r>
            <a:r>
              <a:rPr lang="lv-LV" dirty="0" smtClean="0"/>
              <a:t> savstarpēji tuvinātu, rokturi jāgriež </a:t>
            </a:r>
            <a:r>
              <a:rPr lang="lv-LV" dirty="0" err="1" smtClean="0"/>
              <a:t>pulksteniski</a:t>
            </a:r>
            <a:r>
              <a:rPr lang="lv-LV" dirty="0" smtClean="0"/>
              <a:t>, lai attālinātu — </a:t>
            </a:r>
            <a:r>
              <a:rPr lang="lv-LV" dirty="0" err="1" smtClean="0"/>
              <a:t>pretpulksteniski</a:t>
            </a:r>
            <a:r>
              <a:rPr lang="lv-LV" dirty="0" smtClean="0"/>
              <a:t>. Tarkšķa mehānisms neļauj </a:t>
            </a:r>
            <a:r>
              <a:rPr lang="lv-LV" dirty="0" err="1" smtClean="0"/>
              <a:t>mērvirsmas</a:t>
            </a:r>
            <a:r>
              <a:rPr lang="lv-LV" dirty="0" smtClean="0"/>
              <a:t> satuvināt ar pārāk lielu spēku, jo tad rokturis sāk griezties tukšgaitā un dzirdama raksturīga skaņa. </a:t>
            </a:r>
            <a:r>
              <a:rPr lang="lv-LV" dirty="0" err="1" smtClean="0"/>
              <a:t>Mikrometriskā</a:t>
            </a:r>
            <a:r>
              <a:rPr lang="lv-LV" dirty="0" smtClean="0"/>
              <a:t> skrūve jāgriež tikai ar rokturi, nevis tieši ar nonija skalu, citādi instrumentu var sabojāt. </a:t>
            </a:r>
            <a:r>
              <a:rPr lang="lv-LV" dirty="0" err="1" smtClean="0"/>
              <a:t>Mērvirsmas</a:t>
            </a:r>
            <a:r>
              <a:rPr lang="lv-LV" dirty="0" smtClean="0"/>
              <a:t> var nostiprināt noteiktā attālumā ar fiksatora rokturi.</a:t>
            </a:r>
          </a:p>
          <a:p>
            <a:endParaRPr lang="lv-LV" dirty="0"/>
          </a:p>
        </p:txBody>
      </p:sp>
    </p:spTree>
    <p:extLst>
      <p:ext uri="{BB962C8B-B14F-4D97-AF65-F5344CB8AC3E}">
        <p14:creationId xmlns:p14="http://schemas.microsoft.com/office/powerpoint/2010/main" val="24745816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b="1" dirty="0" smtClean="0"/>
              <a:t>Mikrometrs</a:t>
            </a:r>
            <a:endParaRPr lang="lv-LV"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69128" y="135379"/>
            <a:ext cx="5264178" cy="2099822"/>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753" y="1690688"/>
            <a:ext cx="2381250" cy="1905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8684" y="2796822"/>
            <a:ext cx="6315075" cy="3048000"/>
          </a:xfrm>
          <a:prstGeom prst="rect">
            <a:avLst/>
          </a:prstGeom>
        </p:spPr>
      </p:pic>
    </p:spTree>
    <p:extLst>
      <p:ext uri="{BB962C8B-B14F-4D97-AF65-F5344CB8AC3E}">
        <p14:creationId xmlns:p14="http://schemas.microsoft.com/office/powerpoint/2010/main" val="1674023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lv-LV" dirty="0" smtClean="0"/>
              <a:t>To izmanto, lai noteiktu detaļu atbilstību. Vai detaļa iekļaujas pieļaujamo robežu limitā.</a:t>
            </a:r>
            <a:endParaRPr lang="lv-LV" dirty="0"/>
          </a:p>
          <a:p>
            <a:r>
              <a:rPr lang="lv-LV" dirty="0" err="1" smtClean="0"/>
              <a:t>Beziedaļu</a:t>
            </a:r>
            <a:r>
              <a:rPr lang="lv-LV" dirty="0" smtClean="0"/>
              <a:t> mērs - kalibrs – pieļaujamā vērtība</a:t>
            </a:r>
          </a:p>
          <a:p>
            <a:r>
              <a:rPr lang="lv-LV" dirty="0" smtClean="0"/>
              <a:t>Normālie kalibri atbilst detaļas precīzam izmēram, bet </a:t>
            </a:r>
            <a:r>
              <a:rPr lang="lv-LV" dirty="0" err="1" smtClean="0"/>
              <a:t>robežkalibri</a:t>
            </a:r>
            <a:r>
              <a:rPr lang="lv-LV" dirty="0" smtClean="0"/>
              <a:t> atbilst pieļaujamai </a:t>
            </a:r>
            <a:r>
              <a:rPr lang="lv-LV" dirty="0" err="1" smtClean="0"/>
              <a:t>max</a:t>
            </a:r>
            <a:r>
              <a:rPr lang="lv-LV" dirty="0" smtClean="0"/>
              <a:t> kļūdai.</a:t>
            </a:r>
            <a:endParaRPr lang="lv-LV"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4075" y="3899504"/>
            <a:ext cx="4838556" cy="2827867"/>
          </a:xfrm>
          <a:prstGeom prst="rect">
            <a:avLst/>
          </a:prstGeom>
        </p:spPr>
      </p:pic>
      <p:sp>
        <p:nvSpPr>
          <p:cNvPr id="2" name="Title 1"/>
          <p:cNvSpPr>
            <a:spLocks noGrp="1"/>
          </p:cNvSpPr>
          <p:nvPr>
            <p:ph type="title"/>
          </p:nvPr>
        </p:nvSpPr>
        <p:spPr>
          <a:xfrm>
            <a:off x="762000" y="195308"/>
            <a:ext cx="10515600" cy="1325563"/>
          </a:xfrm>
        </p:spPr>
        <p:txBody>
          <a:bodyPr>
            <a:normAutofit/>
          </a:bodyPr>
          <a:lstStyle/>
          <a:p>
            <a:pPr algn="ctr"/>
            <a:r>
              <a:rPr lang="lv-LV" sz="3600" b="1" dirty="0" smtClean="0"/>
              <a:t>Robežkalibri/</a:t>
            </a:r>
            <a:r>
              <a:rPr lang="az-Cyrl-AZ" sz="3600" b="1" dirty="0"/>
              <a:t>предельный калибр</a:t>
            </a:r>
            <a:r>
              <a:rPr lang="lv-LV" sz="3600" b="1" dirty="0" smtClean="0"/>
              <a:t>/ limit </a:t>
            </a:r>
            <a:r>
              <a:rPr lang="lv-LV" sz="3600" b="1" dirty="0" err="1" smtClean="0"/>
              <a:t>caliber</a:t>
            </a:r>
            <a:endParaRPr lang="lv-LV" sz="3600" b="1" dirty="0"/>
          </a:p>
        </p:txBody>
      </p:sp>
    </p:spTree>
    <p:extLst>
      <p:ext uri="{BB962C8B-B14F-4D97-AF65-F5344CB8AC3E}">
        <p14:creationId xmlns:p14="http://schemas.microsoft.com/office/powerpoint/2010/main" val="2393956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err="1" smtClean="0"/>
              <a:t>Galamēru</a:t>
            </a:r>
            <a:r>
              <a:rPr lang="lv-LV" sz="3600" b="1" dirty="0" smtClean="0"/>
              <a:t> </a:t>
            </a:r>
            <a:r>
              <a:rPr lang="lv-LV" sz="3600" b="1" dirty="0" smtClean="0"/>
              <a:t>plāksnītes/</a:t>
            </a:r>
            <a:r>
              <a:rPr lang="az-Cyrl-AZ" sz="3600" b="1" dirty="0"/>
              <a:t>Концевые </a:t>
            </a:r>
            <a:r>
              <a:rPr lang="az-Cyrl-AZ" sz="3600" b="1" dirty="0" smtClean="0"/>
              <a:t>меры</a:t>
            </a:r>
            <a:r>
              <a:rPr lang="lv-LV" sz="3600" b="1" dirty="0" smtClean="0"/>
              <a:t>/</a:t>
            </a:r>
            <a:r>
              <a:rPr lang="lv-LV" sz="3600" b="1" dirty="0" err="1"/>
              <a:t>End</a:t>
            </a:r>
            <a:r>
              <a:rPr lang="lv-LV" sz="3600" b="1" dirty="0"/>
              <a:t> </a:t>
            </a:r>
            <a:r>
              <a:rPr lang="lv-LV" sz="3600" b="1" dirty="0" err="1"/>
              <a:t>measures</a:t>
            </a:r>
            <a:endParaRPr lang="lv-LV" sz="3600" b="1" dirty="0"/>
          </a:p>
        </p:txBody>
      </p:sp>
      <p:sp>
        <p:nvSpPr>
          <p:cNvPr id="3" name="Content Placeholder 2"/>
          <p:cNvSpPr>
            <a:spLocks noGrp="1"/>
          </p:cNvSpPr>
          <p:nvPr>
            <p:ph idx="1"/>
          </p:nvPr>
        </p:nvSpPr>
        <p:spPr/>
        <p:txBody>
          <a:bodyPr>
            <a:normAutofit/>
          </a:bodyPr>
          <a:lstStyle/>
          <a:p>
            <a:r>
              <a:rPr lang="lv-LV" dirty="0"/>
              <a:t>Ar </a:t>
            </a:r>
            <a:r>
              <a:rPr lang="lv-LV" dirty="0" err="1"/>
              <a:t>mērplāksnītēm</a:t>
            </a:r>
            <a:r>
              <a:rPr lang="lv-LV" dirty="0"/>
              <a:t> </a:t>
            </a:r>
            <a:r>
              <a:rPr lang="lv-LV" dirty="0" smtClean="0"/>
              <a:t>izmēra attālumu starp divām paralēlām virsmām.</a:t>
            </a:r>
          </a:p>
          <a:p>
            <a:r>
              <a:rPr lang="lv-LV" dirty="0" err="1" smtClean="0"/>
              <a:t>Mērapjoms</a:t>
            </a:r>
            <a:r>
              <a:rPr lang="lv-LV" dirty="0" smtClean="0"/>
              <a:t> – plāksnītes biezums</a:t>
            </a:r>
            <a:endParaRPr lang="lv-LV" dirty="0" smtClean="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9631" y="2296591"/>
            <a:ext cx="3422369" cy="456140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75166" y="3484450"/>
            <a:ext cx="4876800" cy="337185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636713"/>
            <a:ext cx="3775166" cy="3067323"/>
          </a:xfrm>
          <a:prstGeom prst="rect">
            <a:avLst/>
          </a:prstGeom>
        </p:spPr>
      </p:pic>
    </p:spTree>
    <p:extLst>
      <p:ext uri="{BB962C8B-B14F-4D97-AF65-F5344CB8AC3E}">
        <p14:creationId xmlns:p14="http://schemas.microsoft.com/office/powerpoint/2010/main" val="587348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err="1" smtClean="0"/>
              <a:t>Mērtausti</a:t>
            </a:r>
            <a:r>
              <a:rPr lang="lv-LV" sz="3600" b="1" dirty="0" smtClean="0"/>
              <a:t>/</a:t>
            </a:r>
            <a:r>
              <a:rPr lang="az-Cyrl-AZ" sz="3600" b="1" dirty="0" smtClean="0"/>
              <a:t>Щуп</a:t>
            </a:r>
            <a:r>
              <a:rPr lang="lv-LV" sz="3600" b="1" dirty="0"/>
              <a:t>/</a:t>
            </a:r>
            <a:r>
              <a:rPr lang="lv-LV" sz="3600" b="1" dirty="0" err="1"/>
              <a:t>Feeler</a:t>
            </a:r>
            <a:r>
              <a:rPr lang="lv-LV" sz="3600" b="1" dirty="0"/>
              <a:t> </a:t>
            </a:r>
            <a:r>
              <a:rPr lang="lv-LV" sz="3600" b="1" dirty="0" err="1"/>
              <a:t>gauge</a:t>
            </a:r>
            <a:endParaRPr lang="lv-LV" sz="36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56020" y="3562350"/>
            <a:ext cx="5715000" cy="3295650"/>
          </a:xfrm>
        </p:spPr>
      </p:pic>
      <p:sp>
        <p:nvSpPr>
          <p:cNvPr id="5" name="TextBox 4"/>
          <p:cNvSpPr txBox="1"/>
          <p:nvPr/>
        </p:nvSpPr>
        <p:spPr>
          <a:xfrm>
            <a:off x="838200" y="2090057"/>
            <a:ext cx="5257800" cy="646331"/>
          </a:xfrm>
          <a:prstGeom prst="rect">
            <a:avLst/>
          </a:prstGeom>
          <a:noFill/>
        </p:spPr>
        <p:txBody>
          <a:bodyPr wrap="square" rtlCol="0">
            <a:spAutoFit/>
          </a:bodyPr>
          <a:lstStyle/>
          <a:p>
            <a:r>
              <a:rPr lang="lv-LV" dirty="0" smtClean="0"/>
              <a:t>Izmanto, lai mērītu spraugu platumu. </a:t>
            </a:r>
            <a:r>
              <a:rPr lang="lv-LV" dirty="0" err="1" smtClean="0"/>
              <a:t>Mērapjoms</a:t>
            </a:r>
            <a:r>
              <a:rPr lang="lv-LV" dirty="0" smtClean="0"/>
              <a:t> no 0,05-1,00mm. Iedaļas vērtība 0,05mm. </a:t>
            </a:r>
            <a:endParaRPr lang="lv-LV" dirty="0"/>
          </a:p>
        </p:txBody>
      </p:sp>
    </p:spTree>
    <p:extLst>
      <p:ext uri="{BB962C8B-B14F-4D97-AF65-F5344CB8AC3E}">
        <p14:creationId xmlns:p14="http://schemas.microsoft.com/office/powerpoint/2010/main" val="2556351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t>Leņķmērs/</a:t>
            </a:r>
            <a:r>
              <a:rPr lang="az-Cyrl-AZ" sz="3600" b="1" dirty="0" smtClean="0"/>
              <a:t>Транспортир</a:t>
            </a:r>
            <a:r>
              <a:rPr lang="lv-LV" sz="3600" b="1" dirty="0" smtClean="0"/>
              <a:t>/</a:t>
            </a:r>
            <a:r>
              <a:rPr lang="lv-LV" sz="3600" b="1" dirty="0" err="1" smtClean="0"/>
              <a:t>Protractor</a:t>
            </a:r>
            <a:endParaRPr lang="lv-LV" sz="3600" b="1" dirty="0"/>
          </a:p>
        </p:txBody>
      </p:sp>
      <p:sp>
        <p:nvSpPr>
          <p:cNvPr id="3" name="Content Placeholder 2"/>
          <p:cNvSpPr>
            <a:spLocks noGrp="1"/>
          </p:cNvSpPr>
          <p:nvPr>
            <p:ph idx="1"/>
          </p:nvPr>
        </p:nvSpPr>
        <p:spPr>
          <a:xfrm>
            <a:off x="705394" y="1436914"/>
            <a:ext cx="10648406" cy="4740049"/>
          </a:xfrm>
        </p:spPr>
        <p:txBody>
          <a:bodyPr/>
          <a:lstStyle/>
          <a:p>
            <a:r>
              <a:rPr lang="lv-LV" dirty="0" smtClean="0"/>
              <a:t>Mēra leņķus. </a:t>
            </a:r>
          </a:p>
          <a:p>
            <a:r>
              <a:rPr lang="lv-LV" dirty="0" smtClean="0"/>
              <a:t>Tipiskais </a:t>
            </a:r>
            <a:r>
              <a:rPr lang="lv-LV" dirty="0" err="1" smtClean="0"/>
              <a:t>mērapjoms</a:t>
            </a:r>
            <a:r>
              <a:rPr lang="lv-LV" dirty="0" smtClean="0"/>
              <a:t> 180 vai 360 grādi. </a:t>
            </a:r>
          </a:p>
          <a:p>
            <a:r>
              <a:rPr lang="lv-LV" dirty="0" smtClean="0"/>
              <a:t>Iedaļas vienība 1 grāds. </a:t>
            </a:r>
            <a:endParaRPr lang="lv-LV"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0756" y="2366962"/>
            <a:ext cx="4491037" cy="4491037"/>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3886" y="3735296"/>
            <a:ext cx="6096000" cy="1600200"/>
          </a:xfrm>
          <a:prstGeom prst="rect">
            <a:avLst/>
          </a:prstGeom>
        </p:spPr>
      </p:pic>
    </p:spTree>
    <p:extLst>
      <p:ext uri="{BB962C8B-B14F-4D97-AF65-F5344CB8AC3E}">
        <p14:creationId xmlns:p14="http://schemas.microsoft.com/office/powerpoint/2010/main" val="833237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t>Sinusa lineāls/</a:t>
            </a:r>
            <a:r>
              <a:rPr lang="az-Cyrl-AZ" sz="3600" b="1" dirty="0"/>
              <a:t>синус </a:t>
            </a:r>
            <a:r>
              <a:rPr lang="az-Cyrl-AZ" sz="3600" b="1" dirty="0" smtClean="0"/>
              <a:t>линейка</a:t>
            </a:r>
            <a:r>
              <a:rPr lang="lv-LV" sz="3600" b="1" dirty="0" smtClean="0"/>
              <a:t>/sinuss </a:t>
            </a:r>
            <a:r>
              <a:rPr lang="lv-LV" sz="3600" b="1" dirty="0" err="1" smtClean="0"/>
              <a:t>ruler</a:t>
            </a:r>
            <a:endParaRPr lang="lv-LV" sz="36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282668" y="3550058"/>
            <a:ext cx="3333750" cy="3105150"/>
          </a:xfrm>
        </p:spPr>
      </p:pic>
      <p:pic>
        <p:nvPicPr>
          <p:cNvPr id="5"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7911" y="4215583"/>
            <a:ext cx="3891598" cy="2474754"/>
          </a:xfrm>
          <a:prstGeom prst="rect">
            <a:avLst/>
          </a:prstGeom>
        </p:spPr>
      </p:pic>
      <p:sp>
        <p:nvSpPr>
          <p:cNvPr id="6" name="TextBox 5"/>
          <p:cNvSpPr txBox="1"/>
          <p:nvPr/>
        </p:nvSpPr>
        <p:spPr>
          <a:xfrm>
            <a:off x="838200" y="1881051"/>
            <a:ext cx="8841377" cy="2308324"/>
          </a:xfrm>
          <a:prstGeom prst="rect">
            <a:avLst/>
          </a:prstGeom>
          <a:noFill/>
        </p:spPr>
        <p:txBody>
          <a:bodyPr wrap="square" rtlCol="0">
            <a:spAutoFit/>
          </a:bodyPr>
          <a:lstStyle/>
          <a:p>
            <a:r>
              <a:rPr lang="lv-LV"/>
              <a:t>Sinusa lineāls ar instalāciju, kas paredzēta, lai kontrolētu un marķētu lineāros un leņķiskos modeļus uz sagatavēm, kā arī lai kontrolētu detaļu un izstrādājumu plaknes. Marķēšanas procesā sagatavi uzliek uz rotējoša sinusa galda un nostiprina ar skavām. Sinusa līniju veido apakšējā plāksne, uz kuras galds ir savienots šarnīra virzienā. Galda abās pusēs ir fiksētas piekares sliedes un paredzētas pārbaudītu vai marķētu detaļu uzstādīšanai. Instalācijā ir uzstādītas pakāpienu platformas, kuru augstums ir precīzi pielāgots noteiktajiem izmēriem ar pielaidi 0,005–0,01 mm. Uzstādīšana, pārvietojoties pa apakšējās plāksnes gropi līdz iepriekš noteiktam augstuma lielumam, tiek fiksēta ar uzgriezni.</a:t>
            </a:r>
            <a:endParaRPr lang="lv-LV" dirty="0"/>
          </a:p>
        </p:txBody>
      </p:sp>
    </p:spTree>
    <p:extLst>
      <p:ext uri="{BB962C8B-B14F-4D97-AF65-F5344CB8AC3E}">
        <p14:creationId xmlns:p14="http://schemas.microsoft.com/office/powerpoint/2010/main" val="3890388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t>Vītņu </a:t>
            </a:r>
            <a:r>
              <a:rPr lang="lv-LV" sz="3600" b="1" dirty="0"/>
              <a:t>kalibri</a:t>
            </a:r>
            <a:r>
              <a:rPr lang="lv-LV" sz="3600" b="1" dirty="0" smtClean="0"/>
              <a:t>/</a:t>
            </a:r>
            <a:r>
              <a:rPr lang="az-Cyrl-AZ" sz="3600" b="1" dirty="0"/>
              <a:t> калибр </a:t>
            </a:r>
            <a:r>
              <a:rPr lang="az-Cyrl-AZ" sz="3600" b="1" dirty="0" smtClean="0"/>
              <a:t>резьбы</a:t>
            </a:r>
            <a:r>
              <a:rPr lang="lv-LV" sz="3600" b="1" dirty="0" smtClean="0"/>
              <a:t>/</a:t>
            </a:r>
            <a:r>
              <a:rPr lang="lv-LV" sz="3600" b="1" dirty="0" err="1" smtClean="0"/>
              <a:t>thread</a:t>
            </a:r>
            <a:r>
              <a:rPr lang="lv-LV" sz="3600" b="1" dirty="0" smtClean="0"/>
              <a:t> </a:t>
            </a:r>
            <a:r>
              <a:rPr lang="lv-LV" sz="3600" b="1" dirty="0" err="1"/>
              <a:t>caliber</a:t>
            </a:r>
            <a:endParaRPr lang="lv-LV" sz="3600" b="1" dirty="0"/>
          </a:p>
        </p:txBody>
      </p:sp>
      <p:sp>
        <p:nvSpPr>
          <p:cNvPr id="5" name="Content Placeholder 4"/>
          <p:cNvSpPr>
            <a:spLocks noGrp="1"/>
          </p:cNvSpPr>
          <p:nvPr>
            <p:ph idx="1"/>
          </p:nvPr>
        </p:nvSpPr>
        <p:spPr/>
        <p:txBody>
          <a:bodyPr/>
          <a:lstStyle/>
          <a:p>
            <a:r>
              <a:rPr lang="lv-LV" dirty="0" smtClean="0"/>
              <a:t>Ar tiem kalibrē gan iekšējās, gan ārējās vītnes</a:t>
            </a:r>
          </a:p>
          <a:p>
            <a:r>
              <a:rPr lang="lv-LV" dirty="0" err="1" smtClean="0"/>
              <a:t>Mērapjoms</a:t>
            </a:r>
            <a:r>
              <a:rPr lang="lv-LV" dirty="0" smtClean="0"/>
              <a:t> – vītnes garums</a:t>
            </a:r>
          </a:p>
          <a:p>
            <a:r>
              <a:rPr lang="lv-LV" dirty="0" smtClean="0"/>
              <a:t>Iedaļas vērtība – vītnes solis</a:t>
            </a:r>
            <a:endParaRPr lang="lv-LV"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2183" y="3454399"/>
            <a:ext cx="10210803" cy="3403601"/>
          </a:xfrm>
          <a:prstGeom prst="rect">
            <a:avLst/>
          </a:prstGeom>
        </p:spPr>
      </p:pic>
    </p:spTree>
    <p:extLst>
      <p:ext uri="{BB962C8B-B14F-4D97-AF65-F5344CB8AC3E}">
        <p14:creationId xmlns:p14="http://schemas.microsoft.com/office/powerpoint/2010/main" val="6929121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t>Indikators/</a:t>
            </a:r>
            <a:r>
              <a:rPr lang="az-Cyrl-AZ" sz="3600" b="1" dirty="0" smtClean="0"/>
              <a:t>Показатель</a:t>
            </a:r>
            <a:r>
              <a:rPr lang="lv-LV" sz="3600" b="1" dirty="0" smtClean="0"/>
              <a:t>/</a:t>
            </a:r>
            <a:r>
              <a:rPr lang="lv-LV" sz="3600" b="1" dirty="0" err="1" smtClean="0"/>
              <a:t>Indicator</a:t>
            </a:r>
            <a:endParaRPr lang="lv-LV" sz="3600" b="1" dirty="0"/>
          </a:p>
        </p:txBody>
      </p:sp>
      <p:sp>
        <p:nvSpPr>
          <p:cNvPr id="3" name="Content Placeholder 2"/>
          <p:cNvSpPr>
            <a:spLocks noGrp="1"/>
          </p:cNvSpPr>
          <p:nvPr>
            <p:ph idx="1"/>
          </p:nvPr>
        </p:nvSpPr>
        <p:spPr/>
        <p:txBody>
          <a:bodyPr/>
          <a:lstStyle/>
          <a:p>
            <a:r>
              <a:rPr lang="lv-LV" dirty="0" smtClean="0"/>
              <a:t>Indikatoru ir daudz dažādu un ar tiem mēra dažādus rādītājus. Tos var piemontēt dažādām iekārtām, atbilstoši tam, ko tas mēra.</a:t>
            </a:r>
          </a:p>
          <a:p>
            <a:endParaRPr lang="lv-LV"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8983" y="3122023"/>
            <a:ext cx="3954485" cy="356058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80208" y="3689849"/>
            <a:ext cx="3226832" cy="3226832"/>
          </a:xfrm>
          <a:prstGeom prst="rect">
            <a:avLst/>
          </a:prstGeom>
        </p:spPr>
      </p:pic>
    </p:spTree>
    <p:extLst>
      <p:ext uri="{BB962C8B-B14F-4D97-AF65-F5344CB8AC3E}">
        <p14:creationId xmlns:p14="http://schemas.microsoft.com/office/powerpoint/2010/main" val="34489261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lv-LV" sz="3600" b="1" dirty="0" smtClean="0"/>
              <a:t>Mērīšanas mikroskops/</a:t>
            </a:r>
            <a:r>
              <a:rPr lang="az-Cyrl-AZ" sz="3600" b="1" dirty="0"/>
              <a:t>Измерительный </a:t>
            </a:r>
            <a:r>
              <a:rPr lang="az-Cyrl-AZ" sz="3600" b="1" dirty="0" smtClean="0"/>
              <a:t>микроскоп</a:t>
            </a:r>
            <a:r>
              <a:rPr lang="lv-LV" sz="3600" b="1" dirty="0" smtClean="0"/>
              <a:t>/</a:t>
            </a:r>
            <a:r>
              <a:rPr lang="lv-LV" sz="3600" b="1" dirty="0" err="1"/>
              <a:t>Measuring</a:t>
            </a:r>
            <a:r>
              <a:rPr lang="lv-LV" sz="3600" b="1" dirty="0"/>
              <a:t> </a:t>
            </a:r>
            <a:r>
              <a:rPr lang="lv-LV" sz="3600" b="1" dirty="0" err="1"/>
              <a:t>microscope</a:t>
            </a:r>
            <a:endParaRPr lang="lv-LV" sz="3600" b="1" dirty="0"/>
          </a:p>
        </p:txBody>
      </p:sp>
      <p:sp>
        <p:nvSpPr>
          <p:cNvPr id="3" name="Content Placeholder 2"/>
          <p:cNvSpPr>
            <a:spLocks noGrp="1"/>
          </p:cNvSpPr>
          <p:nvPr>
            <p:ph idx="1"/>
          </p:nvPr>
        </p:nvSpPr>
        <p:spPr/>
        <p:txBody>
          <a:bodyPr/>
          <a:lstStyle/>
          <a:p>
            <a:r>
              <a:rPr lang="lv-LV" dirty="0"/>
              <a:t>Ierīce ļauj noteikt dažādu daļu elementu relatīvo atrašanās vietu taisnstūra un polārajās koordinātās</a:t>
            </a:r>
            <a:r>
              <a:rPr lang="lv-LV" dirty="0" smtClean="0"/>
              <a:t>.</a:t>
            </a:r>
          </a:p>
          <a:p>
            <a:r>
              <a:rPr lang="lv-LV" dirty="0"/>
              <a:t>https://www.youtube.com/watch?v=ELq0cqw6-Xc</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45829" y="3172416"/>
            <a:ext cx="3685583" cy="3685583"/>
          </a:xfrm>
          <a:prstGeom prst="rect">
            <a:avLst/>
          </a:prstGeom>
        </p:spPr>
      </p:pic>
    </p:spTree>
    <p:extLst>
      <p:ext uri="{BB962C8B-B14F-4D97-AF65-F5344CB8AC3E}">
        <p14:creationId xmlns:p14="http://schemas.microsoft.com/office/powerpoint/2010/main" val="3709400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5063" y="299810"/>
            <a:ext cx="10515600" cy="1325563"/>
          </a:xfrm>
        </p:spPr>
        <p:txBody>
          <a:bodyPr>
            <a:normAutofit/>
          </a:bodyPr>
          <a:lstStyle/>
          <a:p>
            <a:r>
              <a:rPr lang="lv-LV" sz="3200" b="1" dirty="0" smtClean="0"/>
              <a:t>Interferences stikli/</a:t>
            </a:r>
            <a:r>
              <a:rPr lang="az-Cyrl-AZ" sz="3200" b="1" dirty="0"/>
              <a:t> Очки </a:t>
            </a:r>
            <a:r>
              <a:rPr lang="az-Cyrl-AZ" sz="3200" b="1" dirty="0" smtClean="0"/>
              <a:t>интерференции</a:t>
            </a:r>
            <a:r>
              <a:rPr lang="lv-LV" sz="3200" b="1" dirty="0" smtClean="0"/>
              <a:t>/</a:t>
            </a:r>
            <a:r>
              <a:rPr lang="lv-LV" sz="3200" b="1" dirty="0"/>
              <a:t> Interference </a:t>
            </a:r>
            <a:r>
              <a:rPr lang="lv-LV" sz="3200" b="1" dirty="0" err="1"/>
              <a:t>glasses</a:t>
            </a:r>
            <a:endParaRPr lang="lv-LV" sz="3200" b="1" dirty="0"/>
          </a:p>
        </p:txBody>
      </p:sp>
      <p:sp>
        <p:nvSpPr>
          <p:cNvPr id="3" name="Content Placeholder 2"/>
          <p:cNvSpPr>
            <a:spLocks noGrp="1"/>
          </p:cNvSpPr>
          <p:nvPr>
            <p:ph idx="1"/>
          </p:nvPr>
        </p:nvSpPr>
        <p:spPr/>
        <p:txBody>
          <a:bodyPr/>
          <a:lstStyle/>
          <a:p>
            <a:pPr marL="0" indent="0">
              <a:buNone/>
            </a:pPr>
            <a:r>
              <a:rPr lang="lv-LV" dirty="0" smtClean="0"/>
              <a:t>Tieši par stikliem neko neatradu, bet </a:t>
            </a:r>
            <a:r>
              <a:rPr lang="lv-LV" dirty="0" err="1" smtClean="0"/>
              <a:t>interterence</a:t>
            </a:r>
            <a:r>
              <a:rPr lang="lv-LV" dirty="0" smtClean="0"/>
              <a:t> ir viļņu garuma un frekvences pētīšana. Pieļauju, ka ar interferences stikliem nosaka gaismas viļņu izplatīšanos un to frekvences.</a:t>
            </a:r>
          </a:p>
        </p:txBody>
      </p:sp>
    </p:spTree>
    <p:extLst>
      <p:ext uri="{BB962C8B-B14F-4D97-AF65-F5344CB8AC3E}">
        <p14:creationId xmlns:p14="http://schemas.microsoft.com/office/powerpoint/2010/main" val="38877044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343</Words>
  <Application>Microsoft Office PowerPoint</Application>
  <PresentationFormat>Widescreen</PresentationFormat>
  <Paragraphs>41</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Narrow</vt:lpstr>
      <vt:lpstr>Calibri</vt:lpstr>
      <vt:lpstr>Calibri Light</vt:lpstr>
      <vt:lpstr>Office Theme</vt:lpstr>
      <vt:lpstr>Mērinstrumenti</vt:lpstr>
      <vt:lpstr>Bīdmērs/Штангенциркуль/calliper</vt:lpstr>
      <vt:lpstr>Bīdmērs</vt:lpstr>
      <vt:lpstr>Mikrometrs/микрометр/micrometer</vt:lpstr>
      <vt:lpstr>Mikrometrs</vt:lpstr>
      <vt:lpstr>Robežkalibri/предельный калибр/ limit caliber</vt:lpstr>
      <vt:lpstr>Galamēru plāksnītes/Концевые меры/End measures</vt:lpstr>
      <vt:lpstr>Mērtausti/Щуп/Feeler gauge</vt:lpstr>
      <vt:lpstr>Leņķmērs/Транспортир/Protractor</vt:lpstr>
      <vt:lpstr>Sinusa lineāls/синус линейка/sinuss ruler</vt:lpstr>
      <vt:lpstr>Vītņu kalibri/ калибр резьбы/thread caliber</vt:lpstr>
      <vt:lpstr>Indikators/Показатель/Indicator</vt:lpstr>
      <vt:lpstr>Mērīšanas mikroskops/Измерительный микроскоп/Measuring microscope</vt:lpstr>
      <vt:lpstr>Interferences stikli/ Очки интерференции/ Interference glasses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Mērinstrumenti</dc:title>
  <dc:creator>Sarmīte</dc:creator>
  <cp:lastModifiedBy>Usetr</cp:lastModifiedBy>
  <cp:revision>37</cp:revision>
  <dcterms:created xsi:type="dcterms:W3CDTF">2020-11-23T18:43:14Z</dcterms:created>
  <dcterms:modified xsi:type="dcterms:W3CDTF">2020-12-05T17:28:19Z</dcterms:modified>
</cp:coreProperties>
</file>